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80"/>
    <p:restoredTop sz="94707"/>
  </p:normalViewPr>
  <p:slideViewPr>
    <p:cSldViewPr snapToGrid="0">
      <p:cViewPr varScale="1">
        <p:scale>
          <a:sx n="142" d="100"/>
          <a:sy n="142" d="100"/>
        </p:scale>
        <p:origin x="19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E1A3C-E336-684E-B8A2-BDC149FF0387}" type="datetime3">
              <a:rPr lang="en-US" smtClean="0"/>
              <a:t>22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64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A814-E178-C342-A9F7-4FAFBC98F83B}" type="datetime3">
              <a:rPr lang="en-US" smtClean="0"/>
              <a:t>22 April 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‹#›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8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C841F-DEA1-2340-83C2-A3E6B2441CFD}" type="datetime3">
              <a:rPr lang="en-US" smtClean="0"/>
              <a:t>22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2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1877-1BD7-7C4E-AC11-21999D3D9332}" type="datetime3">
              <a:rPr lang="en-US" smtClean="0"/>
              <a:t>22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3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E3BB-D419-1446-8E07-EA1022EE5CE9}" type="datetime3">
              <a:rPr lang="en-US" smtClean="0"/>
              <a:t>22 April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0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06992-212A-A04D-A30F-A0F2616D33E0}" type="datetime3">
              <a:rPr lang="en-US" smtClean="0"/>
              <a:t>22 April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8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0EC98-6A82-FE47-987F-A474C8C6086B}" type="datetime3">
              <a:rPr lang="en-US" smtClean="0"/>
              <a:t>22 April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5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0469-FBE4-284A-B2E6-FE78980DD717}" type="datetime3">
              <a:rPr lang="en-US" smtClean="0"/>
              <a:t>22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3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4F529-E6C7-D94A-A11F-8B4A759BE1EE}" type="datetime3">
              <a:rPr lang="en-US" smtClean="0"/>
              <a:t>22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2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31769-D4A7-3443-BD05-C262278ABBCF}" type="datetime3">
              <a:rPr lang="en-US" smtClean="0"/>
              <a:t>22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4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1D54D-8CBD-AC4D-B30E-E3216EE802D7}" type="datetime3">
              <a:rPr lang="en-US" smtClean="0"/>
              <a:t>22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0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F3A3E45-0F04-0440-A025-4828F3C8666C}" type="datetime3">
              <a:rPr lang="en-US" smtClean="0"/>
              <a:pPr/>
              <a:t>22 April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7E93B2F-3418-FB48-B1B0-E14009C8720B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87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us-east-2.console.aws.amazon.com/sagemaker/home?region=us-east-2#/endpoints" TargetMode="External"/><Relationship Id="rId7" Type="http://schemas.openxmlformats.org/officeDocument/2006/relationships/hyperlink" Target="https://us-east-2.console.aws.amazon.com/ecs/v2/clusters?region=us-east-2" TargetMode="External"/><Relationship Id="rId2" Type="http://schemas.openxmlformats.org/officeDocument/2006/relationships/hyperlink" Target="https://us-east-2.console.aws.amazon.com/cloudwatch/home?region=us-east-2#dashboard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s-east-1.console.aws.amazon.com/iam/home?region=us-east-2#/home" TargetMode="External"/><Relationship Id="rId5" Type="http://schemas.openxmlformats.org/officeDocument/2006/relationships/hyperlink" Target="https://us-east-1.console.aws.amazon.com/costmanagement/home?region=us-east-2#/home" TargetMode="External"/><Relationship Id="rId4" Type="http://schemas.openxmlformats.org/officeDocument/2006/relationships/hyperlink" Target="https://us-east-2.console.aws.amazon.com/ecr/private-registry/repositories?region=us-east-2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kx.com/docs-v5/en/" TargetMode="External"/><Relationship Id="rId2" Type="http://schemas.openxmlformats.org/officeDocument/2006/relationships/hyperlink" Target="https://github.com/vinadevs/BinanceQuantTrad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kx.com/en-us/historical-data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OKX Trading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Architecture, Runtime Features, Model Results, and AWS Deployment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Cloud Computing – Dr. Feng Yan</a:t>
            </a:r>
            <a:br>
              <a:rPr dirty="0"/>
            </a:br>
            <a:br>
              <a:rPr dirty="0"/>
            </a:br>
            <a:r>
              <a:rPr dirty="0"/>
              <a:t>Tuan Minh Pham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April 21,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Low-latency trading stack with clear runtime, inference, and deployment layers</a:t>
            </a:r>
          </a:p>
          <a:p>
            <a:pPr lvl="0"/>
            <a:r>
              <a:rPr dirty="0"/>
              <a:t>Feature pipeline designed around executable </a:t>
            </a:r>
            <a:r>
              <a:rPr dirty="0" err="1"/>
              <a:t>PnL</a:t>
            </a:r>
            <a:endParaRPr dirty="0"/>
          </a:p>
          <a:p>
            <a:pPr lvl="0"/>
            <a:r>
              <a:rPr dirty="0"/>
              <a:t>Model comparison across </a:t>
            </a:r>
            <a:r>
              <a:rPr dirty="0" err="1">
                <a:latin typeface="Courier"/>
              </a:rPr>
              <a:t>XGBoost</a:t>
            </a:r>
            <a:r>
              <a:rPr dirty="0"/>
              <a:t> and </a:t>
            </a:r>
            <a:r>
              <a:rPr dirty="0" err="1">
                <a:latin typeface="Courier"/>
              </a:rPr>
              <a:t>LightGBM</a:t>
            </a:r>
            <a:endParaRPr dirty="0">
              <a:latin typeface="Courier"/>
            </a:endParaRPr>
          </a:p>
          <a:p>
            <a:pPr lvl="0"/>
            <a:r>
              <a:rPr dirty="0"/>
              <a:t>AWS deployment choices for cost, simplicity, and managed ML workflows</a:t>
            </a:r>
            <a:endParaRPr lang="en-US" dirty="0"/>
          </a:p>
          <a:p>
            <a:pPr lvl="0"/>
            <a:r>
              <a:rPr lang="en-US" dirty="0"/>
              <a:t>Data collection: https://</a:t>
            </a:r>
            <a:r>
              <a:rPr lang="en-US" dirty="0" err="1"/>
              <a:t>www.okx.com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-us/historical-data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Core decision loop stays local to reduce latency</a:t>
            </a:r>
          </a:p>
          <a:p>
            <a:pPr lvl="0"/>
            <a:r>
              <a:rPr>
                <a:latin typeface="Courier"/>
              </a:rPr>
              <a:t>backend-cpp</a:t>
            </a:r>
            <a:r>
              <a:t> handles ingest, order-book reconstruction, features, and strategy</a:t>
            </a:r>
          </a:p>
          <a:p>
            <a:pPr lvl="0"/>
            <a:r>
              <a:rPr>
                <a:latin typeface="Courier"/>
              </a:rPr>
              <a:t>inference-python</a:t>
            </a:r>
            <a:r>
              <a:t> provides internal </a:t>
            </a:r>
            <a:r>
              <a:rPr>
                <a:latin typeface="Courier"/>
              </a:rPr>
              <a:t>gRPC</a:t>
            </a:r>
            <a:r>
              <a:t> model scoring</a:t>
            </a:r>
          </a:p>
          <a:p>
            <a:pPr lvl="0"/>
            <a:r>
              <a:rPr>
                <a:latin typeface="Courier"/>
              </a:rPr>
              <a:t>ECS on EC2</a:t>
            </a:r>
            <a:r>
              <a:t> is the best steady-state serving option for cost efficiency</a:t>
            </a:r>
          </a:p>
          <a:p>
            <a:pPr lvl="0"/>
            <a:r>
              <a:rPr>
                <a:latin typeface="Courier"/>
              </a:rPr>
              <a:t>Fargate</a:t>
            </a:r>
            <a:r>
              <a:t> is a good alternative for simpler container operations</a:t>
            </a:r>
          </a:p>
          <a:p>
            <a:pPr lvl="0"/>
            <a:r>
              <a:rPr>
                <a:latin typeface="Courier"/>
              </a:rPr>
              <a:t>SageMaker</a:t>
            </a:r>
            <a:r>
              <a:t> is ideal for managed training and hosted demos but not low-latency requirements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Platform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Runtime scoring stays on the </a:t>
            </a:r>
            <a:r>
              <a:rPr>
                <a:latin typeface="Courier"/>
              </a:rPr>
              <a:t>backend-cpp -&gt; inference-python</a:t>
            </a:r>
            <a:r>
              <a:t> path so cloud services remain outside the critical trading loop.</a:t>
            </a:r>
          </a:p>
        </p:txBody>
      </p:sp>
      <p:pic>
        <p:nvPicPr>
          <p:cNvPr id="3" name="Picture 1" descr="diagrams/runtime_architecture.drawi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86200" y="1130300"/>
            <a:ext cx="46228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Service Roles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74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backend-cpp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 ingest, features, strategy,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gRPC :50051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inference-python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 loading and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gRPC :50061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web-gateway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external API and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HTTP :8080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Communication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>
                <a:latin typeface="Courier"/>
              </a:rPr>
              <a:t>OKX -&gt; backend-</a:t>
            </a:r>
            <a:r>
              <a:rPr dirty="0" err="1">
                <a:latin typeface="Courier"/>
              </a:rPr>
              <a:t>cpp</a:t>
            </a:r>
            <a:r>
              <a:rPr dirty="0"/>
              <a:t>: WebSocket market data</a:t>
            </a:r>
          </a:p>
          <a:p>
            <a:pPr lvl="0"/>
            <a:r>
              <a:rPr dirty="0">
                <a:latin typeface="Courier"/>
              </a:rPr>
              <a:t>backend-</a:t>
            </a:r>
            <a:r>
              <a:rPr dirty="0" err="1">
                <a:latin typeface="Courier"/>
              </a:rPr>
              <a:t>cpp</a:t>
            </a:r>
            <a:r>
              <a:rPr dirty="0">
                <a:latin typeface="Courier"/>
              </a:rPr>
              <a:t> -&gt; inference-python</a:t>
            </a:r>
            <a:r>
              <a:rPr dirty="0"/>
              <a:t>: internal </a:t>
            </a:r>
            <a:r>
              <a:rPr dirty="0" err="1">
                <a:latin typeface="Courier"/>
              </a:rPr>
              <a:t>gRPC</a:t>
            </a:r>
            <a:r>
              <a:rPr dirty="0"/>
              <a:t> scoring</a:t>
            </a:r>
          </a:p>
          <a:p>
            <a:pPr lvl="0"/>
            <a:r>
              <a:rPr dirty="0">
                <a:latin typeface="Courier"/>
              </a:rPr>
              <a:t>web-gateway -&gt; backend-</a:t>
            </a:r>
            <a:r>
              <a:rPr dirty="0" err="1">
                <a:latin typeface="Courier"/>
              </a:rPr>
              <a:t>cpp</a:t>
            </a:r>
            <a:r>
              <a:rPr dirty="0">
                <a:latin typeface="Courier"/>
              </a:rPr>
              <a:t> / inference-python</a:t>
            </a:r>
            <a:r>
              <a:rPr dirty="0"/>
              <a:t>: internal service routing</a:t>
            </a:r>
          </a:p>
          <a:p>
            <a:pPr lvl="0"/>
            <a:r>
              <a:rPr dirty="0">
                <a:latin typeface="Courier"/>
              </a:rPr>
              <a:t>frontend / clients -&gt; web-gateway</a:t>
            </a:r>
            <a:r>
              <a:rPr dirty="0"/>
              <a:t>: external </a:t>
            </a:r>
            <a:r>
              <a:rPr dirty="0">
                <a:latin typeface="Courier"/>
              </a:rPr>
              <a:t>HTTP</a:t>
            </a:r>
          </a:p>
          <a:p>
            <a:pPr lvl="0"/>
            <a:r>
              <a:rPr dirty="0">
                <a:latin typeface="Courier"/>
              </a:rPr>
              <a:t>SageMaker endpoint</a:t>
            </a:r>
            <a:r>
              <a:rPr dirty="0"/>
              <a:t>: optional hosted inference path for demos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Feature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The feature pipeline turns raw market messages into executable trading labels.</a:t>
            </a:r>
          </a:p>
        </p:txBody>
      </p:sp>
      <p:pic>
        <p:nvPicPr>
          <p:cNvPr id="3" name="Picture 1" descr="diagrams/flowchart.drawi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86200" y="1638300"/>
            <a:ext cx="46228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5606D9-F573-2C7C-72BD-BE18A57A0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263464"/>
              </p:ext>
            </p:extLst>
          </p:nvPr>
        </p:nvGraphicFramePr>
        <p:xfrm>
          <a:off x="639109" y="2370853"/>
          <a:ext cx="3247091" cy="1783080"/>
        </p:xfrm>
        <a:graphic>
          <a:graphicData uri="http://schemas.openxmlformats.org/drawingml/2006/table">
            <a:tbl>
              <a:tblPr/>
              <a:tblGrid>
                <a:gridCol w="1534831">
                  <a:extLst>
                    <a:ext uri="{9D8B030D-6E8A-4147-A177-3AD203B41FA5}">
                      <a16:colId xmlns:a16="http://schemas.microsoft.com/office/drawing/2014/main" val="2032572228"/>
                    </a:ext>
                  </a:extLst>
                </a:gridCol>
                <a:gridCol w="1712260">
                  <a:extLst>
                    <a:ext uri="{9D8B030D-6E8A-4147-A177-3AD203B41FA5}">
                      <a16:colId xmlns:a16="http://schemas.microsoft.com/office/drawing/2014/main" val="38182592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52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Buyer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905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Seller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29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 liquidity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60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Executed 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00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PnL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Profit /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1388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Executable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Order books show passive liquidity</a:t>
            </a:r>
          </a:p>
          <a:p>
            <a:pPr lvl="0"/>
            <a:r>
              <a:t>Trades show aggressive flow</a:t>
            </a:r>
          </a:p>
          <a:p>
            <a:pPr lvl="0"/>
            <a:r>
              <a:t>The spread defines the immediate cost of entering a position</a:t>
            </a:r>
          </a:p>
          <a:p>
            <a:pPr lvl="0"/>
            <a:r>
              <a:t>A useful label should answer: “Could this trade have been executed profitably?”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Executable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For horizon </a:t>
                </a:r>
                <a:r>
                  <a:rPr dirty="0">
                    <a:latin typeface="Courier"/>
                  </a:rPr>
                  <a:t>H</a:t>
                </a:r>
                <a:r>
                  <a:rPr dirty="0"/>
                  <a:t>, evaluate the trade after crossing the spread.</a:t>
                </a:r>
              </a:p>
              <a:p>
                <a:pPr marL="0" indent="0">
                  <a:buNone/>
                </a:pPr>
                <a:r>
                  <a:rPr b="1" dirty="0"/>
                  <a:t>B</a:t>
                </a:r>
                <a:r>
                  <a:rPr lang="en-US" b="1" dirty="0"/>
                  <a:t>uy edge: </a:t>
                </a:r>
                <a:r>
                  <a:rPr lang="en-US" dirty="0"/>
                  <a:t>Buy at ask (now), Sell at bid (future)</a:t>
                </a:r>
                <a:endParaRPr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buy</m:t>
                          </m:r>
                          <m:r>
                            <m:rPr>
                              <m:nor/>
                            </m:rPr>
                            <a:rPr/>
                            <m:t>_</m:t>
                          </m:r>
                          <m:r>
                            <m:rPr>
                              <m:nor/>
                            </m:rPr>
                            <a:rPr/>
                            <m:t>pnl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bid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ask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𝑛𝑜𝑤</m:t>
                          </m:r>
                        </m:sub>
                      </m:sSub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b="1" dirty="0"/>
                  <a:t>Sell edge</a:t>
                </a:r>
                <a:r>
                  <a:rPr lang="en-US" b="1" dirty="0"/>
                  <a:t>: </a:t>
                </a:r>
                <a:r>
                  <a:rPr lang="en-US" dirty="0"/>
                  <a:t>Sell at bid (now), Buy back at ask (future)</a:t>
                </a:r>
                <a:endParaRPr b="1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sell</m:t>
                          </m:r>
                          <m:r>
                            <m:rPr>
                              <m:nor/>
                            </m:rPr>
                            <a:rPr/>
                            <m:t>_</m:t>
                          </m:r>
                          <m:r>
                            <m:rPr>
                              <m:nor/>
                            </m:rPr>
                            <a:rPr/>
                            <m:t>pnl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bid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𝑛𝑜𝑤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ask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 marL="0" lvl="0" indent="0">
                  <a:buNone/>
                </a:pPr>
                <a:endParaRPr b="1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Label Construction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/>
                            <m:t>label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/>
                                      <m:t>buy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pnl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 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and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 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/>
                                      <m:t>buy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pnl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/>
                                      <m:t>sell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pnl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 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/>
                                      <m:t>sell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pnl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 </m:t>
                                </m:r>
                                <m:r>
                                  <m:rPr>
                                    <m:nor/>
                                  </m:rPr>
                                  <a:rPr/>
                                  <m:t>and</m:t>
                                </m:r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 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/>
                                      <m:t>sell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pnl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/>
                                      <m:t>buy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/>
                                      <m:t>pnl</m:t>
                                    </m:r>
                                  </m:e>
                                  <m:sub>
                                    <m:r>
                                      <a:rPr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>
                    <a:latin typeface="Courier"/>
                  </a:rPr>
                  <a:t>1</a:t>
                </a:r>
                <a:r>
                  <a:rPr dirty="0"/>
                  <a:t>: up</a:t>
                </a:r>
              </a:p>
              <a:p>
                <a:pPr lvl="0"/>
                <a:r>
                  <a:rPr dirty="0">
                    <a:latin typeface="Courier"/>
                  </a:rPr>
                  <a:t>-1</a:t>
                </a:r>
                <a:r>
                  <a:rPr dirty="0"/>
                  <a:t>: down</a:t>
                </a:r>
              </a:p>
              <a:p>
                <a:pPr lvl="0"/>
                <a:r>
                  <a:rPr dirty="0">
                    <a:latin typeface="Courier"/>
                  </a:rPr>
                  <a:t>0</a:t>
                </a:r>
                <a:r>
                  <a:rPr dirty="0"/>
                  <a:t>: neutral</a:t>
                </a:r>
                <a:endParaRPr lang="en-US" dirty="0"/>
              </a:p>
              <a:p>
                <a:pPr lvl="0"/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33" t="-74708" b="-35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Feature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Price state: </a:t>
            </a:r>
            <a:r>
              <a:rPr>
                <a:latin typeface="Courier"/>
              </a:rPr>
              <a:t>mid_price</a:t>
            </a:r>
            <a:r>
              <a:t>, </a:t>
            </a:r>
            <a:r>
              <a:rPr>
                <a:latin typeface="Courier"/>
              </a:rPr>
              <a:t>spread</a:t>
            </a:r>
            <a:r>
              <a:t>, </a:t>
            </a:r>
            <a:r>
              <a:rPr>
                <a:latin typeface="Courier"/>
              </a:rPr>
              <a:t>rel_spread</a:t>
            </a:r>
            <a:r>
              <a:t>, </a:t>
            </a:r>
            <a:r>
              <a:rPr>
                <a:latin typeface="Courier"/>
              </a:rPr>
              <a:t>microprice</a:t>
            </a:r>
          </a:p>
          <a:p>
            <a:pPr lvl="0"/>
            <a:r>
              <a:t>Order-book pressure: </a:t>
            </a:r>
            <a:r>
              <a:rPr>
                <a:latin typeface="Courier"/>
              </a:rPr>
              <a:t>imbalance</a:t>
            </a:r>
            <a:r>
              <a:t>, </a:t>
            </a:r>
            <a:r>
              <a:rPr>
                <a:latin typeface="Courier"/>
              </a:rPr>
              <a:t>imbalance_l1</a:t>
            </a:r>
            <a:r>
              <a:t>, </a:t>
            </a:r>
            <a:r>
              <a:rPr>
                <a:latin typeface="Courier"/>
              </a:rPr>
              <a:t>imbalance_l5</a:t>
            </a:r>
          </a:p>
          <a:p>
            <a:pPr lvl="0"/>
            <a:r>
              <a:t>Depth: </a:t>
            </a:r>
            <a:r>
              <a:rPr>
                <a:latin typeface="Courier"/>
              </a:rPr>
              <a:t>bid_vol_l5</a:t>
            </a:r>
            <a:r>
              <a:t>, </a:t>
            </a:r>
            <a:r>
              <a:rPr>
                <a:latin typeface="Courier"/>
              </a:rPr>
              <a:t>ask_vol_l5</a:t>
            </a:r>
            <a:r>
              <a:t>, </a:t>
            </a:r>
            <a:r>
              <a:rPr>
                <a:latin typeface="Courier"/>
              </a:rPr>
              <a:t>weighted_bid_depth</a:t>
            </a:r>
            <a:r>
              <a:t>, </a:t>
            </a:r>
            <a:r>
              <a:rPr>
                <a:latin typeface="Courier"/>
              </a:rPr>
              <a:t>weighted_ask_depth</a:t>
            </a:r>
          </a:p>
          <a:p>
            <a:pPr lvl="0"/>
            <a:r>
              <a:t>Trade flow: </a:t>
            </a:r>
            <a:r>
              <a:rPr>
                <a:latin typeface="Courier"/>
              </a:rPr>
              <a:t>trade_count</a:t>
            </a:r>
            <a:r>
              <a:t>, </a:t>
            </a:r>
            <a:r>
              <a:rPr>
                <a:latin typeface="Courier"/>
              </a:rPr>
              <a:t>trade_volume</a:t>
            </a:r>
            <a:r>
              <a:t>, </a:t>
            </a:r>
            <a:r>
              <a:rPr>
                <a:latin typeface="Courier"/>
              </a:rPr>
              <a:t>trade_imbalance</a:t>
            </a:r>
          </a:p>
          <a:p>
            <a:pPr lvl="0"/>
            <a:r>
              <a:t>Change signals: </a:t>
            </a:r>
            <a:r>
              <a:rPr>
                <a:latin typeface="Courier"/>
              </a:rPr>
              <a:t>delta_mid_price</a:t>
            </a:r>
            <a:r>
              <a:t>, </a:t>
            </a:r>
            <a:r>
              <a:rPr>
                <a:latin typeface="Courier"/>
              </a:rPr>
              <a:t>delta_spread</a:t>
            </a:r>
            <a:r>
              <a:t>, </a:t>
            </a:r>
            <a:r>
              <a:rPr>
                <a:latin typeface="Courier"/>
              </a:rPr>
              <a:t>delta_imbalance_l5</a:t>
            </a:r>
          </a:p>
          <a:p>
            <a:pPr lvl="0"/>
            <a:r>
              <a:t>Message state: </a:t>
            </a:r>
            <a:r>
              <a:rPr>
                <a:latin typeface="Courier"/>
              </a:rPr>
              <a:t>is_snapshot</a:t>
            </a:r>
            <a:r>
              <a:t>, </a:t>
            </a:r>
            <a:r>
              <a:rPr>
                <a:latin typeface="Courier"/>
              </a:rPr>
              <a:t>is_update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Most Important Signals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These features repeatedly appeared near the top of the learned importance ranking.</a:t>
            </a:r>
          </a:p>
        </p:txBody>
      </p:sp>
      <p:pic>
        <p:nvPicPr>
          <p:cNvPr id="3" name="Picture 1" descr="pictures/feature_importa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87506" y="2093447"/>
            <a:ext cx="6922247" cy="29476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Snapshot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367355"/>
              </p:ext>
            </p:extLst>
          </p:nvPr>
        </p:nvGraphicFramePr>
        <p:xfrm>
          <a:off x="622300" y="1358900"/>
          <a:ext cx="78740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86,399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Train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69,119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Test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17,280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>
                          <a:latin typeface="Courier"/>
                        </a:rPr>
                        <a:t>80 /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Label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dataset is heavily neutral, which makes profitable edge detection harder than direction classification alone.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86200" y="736600"/>
          <a:ext cx="46101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6,341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2,159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56,176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13,226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6,602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1,895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Trading Evaluation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Neither model achieved positive held-out executable PnL.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890869"/>
              </p:ext>
            </p:extLst>
          </p:nvPr>
        </p:nvGraphicFramePr>
        <p:xfrm>
          <a:off x="806825" y="1955871"/>
          <a:ext cx="8166846" cy="1095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1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15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702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PnL / BTC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PnL / $5k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Win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>
                          <a:latin typeface="Courier"/>
                        </a:rPr>
                        <a:t>XGBoost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0.3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3.999%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-295.6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-20.76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29.23%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7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>
                          <a:latin typeface="Courier"/>
                        </a:rPr>
                        <a:t>LightGBM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>
                          <a:latin typeface="Courier"/>
                        </a:rPr>
                        <a:t>0.5 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>
                          <a:latin typeface="Courier"/>
                        </a:rP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>
                          <a:latin typeface="Courier"/>
                        </a:rPr>
                        <a:t>1.435%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-604.7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latin typeface="Courier"/>
                        </a:rPr>
                        <a:t>-42.53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>
                          <a:latin typeface="Courier"/>
                        </a:rPr>
                        <a:t>23.79%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Container Deployment Path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ECS on EC2</a:t>
            </a:r>
            <a:r>
              <a:t>: best for lowest steady-state cost</a:t>
            </a:r>
          </a:p>
          <a:p>
            <a:pPr lvl="0"/>
            <a:r>
              <a:rPr>
                <a:latin typeface="Courier"/>
              </a:rPr>
              <a:t>ECS on Fargate</a:t>
            </a:r>
            <a:r>
              <a:t>: best when simpler operations matter more than cost</a:t>
            </a:r>
          </a:p>
        </p:txBody>
      </p:sp>
      <p:pic>
        <p:nvPicPr>
          <p:cNvPr id="3" name="Picture 1" descr="diagrams/aws_deployment_containers.drawi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86200" y="939800"/>
            <a:ext cx="4622800" cy="323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Local and AWS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Local stack uses the same three service images as AWS deployment</a:t>
            </a:r>
          </a:p>
          <a:p>
            <a:pPr lvl="0"/>
            <a:r>
              <a:t>Images are built locally and pushed to </a:t>
            </a:r>
            <a:r>
              <a:rPr>
                <a:latin typeface="Courier"/>
              </a:rPr>
              <a:t>Amazon ECR</a:t>
            </a:r>
          </a:p>
          <a:p>
            <a:pPr lvl="0"/>
            <a:r>
              <a:rPr>
                <a:latin typeface="Courier"/>
              </a:rPr>
              <a:t>ECS</a:t>
            </a:r>
            <a:r>
              <a:t> task definitions are rendered from repository templates</a:t>
            </a:r>
          </a:p>
          <a:p>
            <a:pPr lvl="0"/>
            <a:r>
              <a:rPr>
                <a:latin typeface="Courier"/>
              </a:rPr>
              <a:t>web-gateway</a:t>
            </a:r>
            <a:r>
              <a:t> is exposed through an </a:t>
            </a:r>
            <a:r>
              <a:rPr>
                <a:latin typeface="Courier"/>
              </a:rPr>
              <a:t>Application Load Balancer</a:t>
            </a:r>
          </a:p>
          <a:p>
            <a:pPr lvl="0"/>
            <a:r>
              <a:t>Internal </a:t>
            </a:r>
            <a:r>
              <a:rPr>
                <a:latin typeface="Courier"/>
              </a:rPr>
              <a:t>gRPC</a:t>
            </a:r>
            <a:r>
              <a:t> traffic stays between backend and inference services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/>
          <a:lstStyle/>
          <a:p>
            <a:pPr marL="0" lvl="0" indent="0">
              <a:buNone/>
            </a:pPr>
            <a:r>
              <a:t>Managed ML Path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Use this path for training, packaging, and hosted demos rather than the fastest execution loop.</a:t>
            </a:r>
          </a:p>
        </p:txBody>
      </p:sp>
      <p:pic>
        <p:nvPicPr>
          <p:cNvPr id="3" name="Picture 1" descr="diagrams/aws_deployment_managed_ml.drawi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84700" y="736600"/>
            <a:ext cx="32258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Deployment Trade-Offs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74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Best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ECS on 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always-on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lowest cost and most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host management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ECS on Fargate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simpler 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host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higher steady-state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SageMaker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managed ML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training and hosted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not ideal for low-latency trading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Cost Snapshot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ECS on 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3 x t4g.small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~$36.79 /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ECS on Fargate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3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~$90.10 /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SageMaker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 x ml.m5.large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instance-hour billing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11.9598 GiB</a:t>
                      </a:r>
                      <a:r>
                        <a:t> stored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~$1.20 /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Recommendation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740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Best Option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Cheapest always-on 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ECS on EC2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Simplest container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Fargate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Managed training and demos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SageMaker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Lowest-latency trading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EC2 + local gRPC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Desktop client</a:t>
            </a:r>
            <a:r>
              <a:t> connects to </a:t>
            </a:r>
            <a:r>
              <a:rPr>
                <a:latin typeface="Courier"/>
              </a:rPr>
              <a:t>web-gateway</a:t>
            </a:r>
            <a:r>
              <a:t> for live predictions</a:t>
            </a:r>
          </a:p>
          <a:p>
            <a:pPr lvl="0"/>
            <a:r>
              <a:rPr>
                <a:hlinkClick r:id="rId2"/>
              </a:rPr>
              <a:t>CloudWatch – monitor ECS and Fargate service health and logs</a:t>
            </a:r>
          </a:p>
          <a:p>
            <a:pPr lvl="0"/>
            <a:r>
              <a:rPr>
                <a:hlinkClick r:id="rId3"/>
              </a:rPr>
              <a:t>SageMaker Endpoint</a:t>
            </a:r>
          </a:p>
          <a:p>
            <a:pPr lvl="0"/>
            <a:r>
              <a:rPr>
                <a:hlinkClick r:id="rId4"/>
              </a:rPr>
              <a:t>ECR Repositories – images and storage usage</a:t>
            </a:r>
          </a:p>
          <a:p>
            <a:pPr lvl="0"/>
            <a:r>
              <a:rPr>
                <a:hlinkClick r:id="rId5"/>
              </a:rPr>
              <a:t>Billing and Cost Management – track monthly costs</a:t>
            </a:r>
          </a:p>
          <a:p>
            <a:pPr lvl="0"/>
            <a:r>
              <a:rPr>
                <a:hlinkClick r:id="rId6"/>
              </a:rPr>
              <a:t>IAM – roles and permissions</a:t>
            </a:r>
          </a:p>
          <a:p>
            <a:pPr lvl="0"/>
            <a:r>
              <a:rPr>
                <a:hlinkClick r:id="rId7"/>
              </a:rPr>
              <a:t>ECS – task definitions and service configurations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BinanceQuantTrader (GitHub)</a:t>
            </a:r>
          </a:p>
          <a:p>
            <a:pPr lvl="0"/>
            <a:r>
              <a:rPr>
                <a:hlinkClick r:id="rId3"/>
              </a:rPr>
              <a:t>OKX API Documentation (v5)</a:t>
            </a:r>
          </a:p>
          <a:p>
            <a:pPr lvl="0"/>
            <a:r>
              <a:rPr>
                <a:hlinkClick r:id="rId4"/>
              </a:rPr>
              <a:t>OKX Historical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Questions, feedback, and discussion are welcome.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93B2F-3418-FB48-B1B0-E14009C8720B}" type="slidenum">
              <a:rPr lang="en-US" smtClean="0"/>
              <a:pPr/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901</Words>
  <Application>Microsoft Macintosh PowerPoint</Application>
  <PresentationFormat>On-screen Show (16:9)</PresentationFormat>
  <Paragraphs>224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Cambria Math</vt:lpstr>
      <vt:lpstr>Courier</vt:lpstr>
      <vt:lpstr>Times New Roman</vt:lpstr>
      <vt:lpstr>1_Custom Design</vt:lpstr>
      <vt:lpstr>OKX Trading Platform</vt:lpstr>
      <vt:lpstr>Overview</vt:lpstr>
      <vt:lpstr>Executive Summary</vt:lpstr>
      <vt:lpstr>Platform Architecture</vt:lpstr>
      <vt:lpstr>Service Roles</vt:lpstr>
      <vt:lpstr>Communication Pattern</vt:lpstr>
      <vt:lpstr>Feature Pipeline</vt:lpstr>
      <vt:lpstr>Why Executable Labels</vt:lpstr>
      <vt:lpstr>Executable Target</vt:lpstr>
      <vt:lpstr>Label Construction</vt:lpstr>
      <vt:lpstr>Feature Families</vt:lpstr>
      <vt:lpstr>Most Important Signals</vt:lpstr>
      <vt:lpstr>Dataset Snapshot</vt:lpstr>
      <vt:lpstr>Label Distribution</vt:lpstr>
      <vt:lpstr>Trading Evaluation</vt:lpstr>
      <vt:lpstr>Container Deployment Path</vt:lpstr>
      <vt:lpstr>Local and AWS Flow</vt:lpstr>
      <vt:lpstr>Managed ML Path</vt:lpstr>
      <vt:lpstr>Deployment Trade-Offs</vt:lpstr>
      <vt:lpstr>Cost Snapshot</vt:lpstr>
      <vt:lpstr>Recommendation Matrix</vt:lpstr>
      <vt:lpstr>Demo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210</TotalTime>
  <Words>11</Words>
  <Application>Microsoft Macintosh PowerPoint</Application>
  <PresentationFormat>On-screen Show (16:9)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1_Custom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OKX Trading Platform</dc:title>
  <dc:creator>Tuan Minh Pham</dc:creator>
  <cp:keywords/>
  <cp:lastModifiedBy>Tuan Pham</cp:lastModifiedBy>
  <cp:revision>7</cp:revision>
  <dcterms:created xsi:type="dcterms:W3CDTF">2026-04-22T19:10:52Z</dcterms:created>
  <dcterms:modified xsi:type="dcterms:W3CDTF">2026-04-22T20:37:54Z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21, 2026</vt:lpwstr>
  </property>
  <property fmtid="{D5CDD505-2E9C-101B-9397-08002B2CF9AE}" pid="3" name="subtitle">
    <vt:lpwstr>Architecture, Runtime Features, Model Results, and AWS Deployment</vt:lpwstr>
  </property>
</Properties>
</file>